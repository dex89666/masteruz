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C9A24C"/>
              </a:solidFill>
              <a:ln>
                <a:noFill/>
              </a:ln>
            </c:spPr>
          </c:dPt>
          <c:dPt>
            <c:idx val="1"/>
            <c:spPr>
              <a:solidFill>
                <a:srgbClr val="E2C47A"/>
              </a:solidFill>
              <a:ln>
                <a:noFill/>
              </a:ln>
            </c:spPr>
          </c:dPt>
          <c:dPt>
            <c:idx val="2"/>
            <c:spPr>
              <a:solidFill>
                <a:srgbClr val="B8CBE6"/>
              </a:solidFill>
              <a:ln>
                <a:noFill/>
              </a:ln>
            </c:spPr>
          </c:dPt>
          <c:dPt>
            <c:idx val="3"/>
            <c:spPr>
              <a:solidFill>
                <a:srgbClr val="6D86AE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Комиссия 15%</c:v>
                </c:pt>
                <c:pt idx="1">
                  <c:v>Выездная оценка</c:v>
                </c:pt>
                <c:pt idx="2">
                  <c:v>Партнёрские магазины</c:v>
                </c:pt>
                <c:pt idx="3">
                  <c:v>Промо / реклама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10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0B1F3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GMV, млрд сум</c:v>
                </c:pt>
              </c:strCache>
            </c:strRef>
          </c:tx>
          <c:spPr>
            <a:solidFill>
              <a:srgbClr val="C9A24C"/>
            </a:solidFill>
          </c:spPr>
          <c:dLbls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17.1</c:v>
                </c:pt>
                <c:pt idx="1">
                  <c:v>77.6</c:v>
                </c:pt>
                <c:pt idx="2">
                  <c:v>225.0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Выручка, млрд сум</c:v>
                </c:pt>
              </c:strCache>
            </c:strRef>
          </c:tx>
          <c:spPr>
            <a:solidFill>
              <a:srgbClr val="E2C47A"/>
            </a:solidFill>
          </c:spPr>
          <c:dLbls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2.91</c:v>
                </c:pt>
                <c:pt idx="1">
                  <c:v>13.45</c:v>
                </c:pt>
                <c:pt idx="2">
                  <c:v>39.65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EBITDA, млрд сум</c:v>
                </c:pt>
              </c:strCache>
            </c:strRef>
          </c:tx>
          <c:spPr>
            <a:solidFill>
              <a:srgbClr val="4CC28A"/>
            </a:solidFill>
          </c:spPr>
          <c:dLbls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0.45</c:v>
                </c:pt>
                <c:pt idx="1">
                  <c:v>6.54</c:v>
                </c:pt>
                <c:pt idx="2">
                  <c:v>25.07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A9B4C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Тело долга, млн сум</c:v>
                </c:pt>
              </c:strCache>
            </c:strRef>
          </c:tx>
          <c:spPr>
            <a:solidFill>
              <a:srgbClr val="C9A24C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Мес 1–6</c:v>
                </c:pt>
                <c:pt idx="1">
                  <c:v>Мес 7–12</c:v>
                </c:pt>
                <c:pt idx="2">
                  <c:v>Мес 13–18</c:v>
                </c:pt>
                <c:pt idx="3">
                  <c:v>Мес 19–24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375</c:v>
                </c:pt>
                <c:pt idx="2">
                  <c:v>375</c:v>
                </c:pt>
                <c:pt idx="3">
                  <c:v>750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EBITDA, млн сум (расч.)</c:v>
                </c:pt>
              </c:strCache>
            </c:strRef>
          </c:tx>
          <c:spPr>
            <a:solidFill>
              <a:srgbClr val="4CC28A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Мес 1–6</c:v>
                </c:pt>
                <c:pt idx="1">
                  <c:v>Мес 7–12</c:v>
                </c:pt>
                <c:pt idx="2">
                  <c:v>Мес 13–18</c:v>
                </c:pt>
                <c:pt idx="3">
                  <c:v>Мес 19–24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150</c:v>
                </c:pt>
                <c:pt idx="2">
                  <c:v>1000</c:v>
                </c:pt>
                <c:pt idx="3">
                  <c:v>2500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1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50000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0B1F3A"/>
                </a:solidFill>
                <a:latin typeface="Calibri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777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MASTERUZ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9B4C9"/>
                </a:solidFill>
                <a:latin typeface="Calibri"/>
              </a:rPr>
              <a:t>цифровая платформа бытовых и ремонтных услуг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9A24C"/>
                </a:solidFill>
                <a:latin typeface="Calibri"/>
              </a:rPr>
              <a:t>Бизнес-план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Масштабирование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работающей платформы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9ECF3"/>
                </a:solidFill>
                <a:latin typeface="Calibri"/>
              </a:rPr>
              <a:t>Запрос на беззалоговое инвестиционное кредитование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920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Calibri"/>
              </a:rPr>
              <a:t>1.5 млрд сум  ·  24 мес  ·  без залога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A24C"/>
                </a:solidFill>
                <a:latin typeface="Calibri"/>
              </a:rPr>
              <a:t>ЗАЁМЩИК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7889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ООО «Vladlab»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2918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ИНН  ·  313020180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ОКЭД  ·  63.12.0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023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Ташкент, Узбекистан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A24C"/>
                </a:solidFill>
                <a:latin typeface="Calibri"/>
              </a:rPr>
              <a:t>ПОДГОТОВЛЕНО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349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Май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715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Для кредитного комитета банка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Конфиденциально  ·  для внутреннего рассмотрения банком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02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Что такое MasterUz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9ECF3"/>
                </a:solidFill>
                <a:latin typeface="Calibri"/>
              </a:rPr>
              <a:t>MasterUz — действующая цифровая платформа, соединяющая клиентов</a:t>
            </a:r>
          </a:p>
          <a:p>
            <a:pPr algn="l"/>
            <a:r>
              <a:rPr sz="1500" b="0">
                <a:solidFill>
                  <a:srgbClr val="E9ECF3"/>
                </a:solidFill>
                <a:latin typeface="Calibri"/>
              </a:rPr>
              <a:t>с профессиональными мастерами бытовых и ремонтно-строительных услуг</a:t>
            </a:r>
          </a:p>
          <a:p>
            <a:pPr algn="l"/>
            <a:r>
              <a:rPr sz="1500" b="0">
                <a:solidFill>
                  <a:srgbClr val="E9ECF3"/>
                </a:solidFill>
                <a:latin typeface="Calibri"/>
              </a:rPr>
              <a:t>в Узбекистане. Локализованный аналог Profi.ru / TaskRabbit с интеграцией</a:t>
            </a:r>
          </a:p>
          <a:p>
            <a:pPr algn="l"/>
            <a:r>
              <a:rPr sz="1500" b="0">
                <a:solidFill>
                  <a:srgbClr val="E9ECF3"/>
                </a:solidFill>
                <a:latin typeface="Calibri"/>
              </a:rPr>
              <a:t>Telegram Mini App, локальных платежей (Click, Payme) и 3 языками.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40000" cy="18288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9A24C"/>
                </a:solidFill>
                <a:latin typeface="Calibri"/>
              </a:rPr>
              <a:t>Запущено в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Юридически оформлено,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платформа работает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с реальными пользователями.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20624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4206240"/>
            <a:ext cx="40000" cy="18288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434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9A24C"/>
                </a:solidFill>
                <a:latin typeface="Calibri"/>
              </a:rPr>
              <a:t>Эскроу-расчёты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Деньги клиента блокируются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до подтверждения работ —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редкая практика на рынке.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40000" cy="18288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9A24C"/>
                </a:solidFill>
                <a:latin typeface="Calibri"/>
              </a:rPr>
              <a:t>4 AI-системы в проде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Vision, скоринг клиентов,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рутинг мастеров,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антифрод-агент.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420624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4206240"/>
            <a:ext cx="40000" cy="18288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4434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9A24C"/>
                </a:solidFill>
                <a:latin typeface="Calibri"/>
              </a:rPr>
              <a:t>15% комиссия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8920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Единственный источник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дохода — успешные сделки.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Без сборов с мастеров.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03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ПОЗИЦИОНИРОВАНИЕ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Проблема рынка и наше решение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5C5C"/>
                </a:solidFill>
                <a:latin typeface="Calibri"/>
              </a:rP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Серый рынок бытовых услуг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93008"/>
            <a:ext cx="109728" cy="109728"/>
          </a:xfrm>
          <a:prstGeom prst="ellipse">
            <a:avLst/>
          </a:prstGeom>
          <a:solidFill>
            <a:srgbClr val="E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83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Поиск через сарафанное радио и Telegram-чаты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95928"/>
            <a:ext cx="109728" cy="109728"/>
          </a:xfrm>
          <a:prstGeom prst="ellipse">
            <a:avLst/>
          </a:prstGeom>
          <a:solidFill>
            <a:srgbClr val="E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862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Нет защиты — деньги вперёд, гарантий нет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E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389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Качество работ непрозрачно, рейтингов нет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01768"/>
            <a:ext cx="109728" cy="109728"/>
          </a:xfrm>
          <a:prstGeom prst="ellipse">
            <a:avLst/>
          </a:prstGeom>
          <a:solidFill>
            <a:srgbClr val="E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Мошенничество и срывы сроков обычны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504688"/>
            <a:ext cx="109728" cy="109728"/>
          </a:xfrm>
          <a:prstGeom prst="ellipse">
            <a:avLst/>
          </a:prstGeom>
          <a:solidFill>
            <a:srgbClr val="E2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394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Мастера зависят от случайного потока клиентов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1031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103120"/>
            <a:ext cx="40000" cy="41148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286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РЕШЕНИЕ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974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MasterUz: цифровизация и доверие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493008"/>
            <a:ext cx="109728" cy="109728"/>
          </a:xfrm>
          <a:prstGeom prst="ellipse">
            <a:avLst/>
          </a:prstGeom>
          <a:solidFill>
            <a:srgbClr val="4CC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383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Эскроу: деньги блокируются до приёмки работ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3995928"/>
            <a:ext cx="109728" cy="109728"/>
          </a:xfrm>
          <a:prstGeom prst="ellipse">
            <a:avLst/>
          </a:prstGeom>
          <a:solidFill>
            <a:srgbClr val="4CC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8862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AI-анализ фото за 30 сек → готовый заказ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498848"/>
            <a:ext cx="109728" cy="109728"/>
          </a:xfrm>
          <a:prstGeom prst="ellipse">
            <a:avLst/>
          </a:prstGeom>
          <a:solidFill>
            <a:srgbClr val="4CC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389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Каталог 400+ услуг с фиксированными ценами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5001768"/>
            <a:ext cx="109728" cy="109728"/>
          </a:xfrm>
          <a:prstGeom prst="ellipse">
            <a:avLst/>
          </a:prstGeom>
          <a:solidFill>
            <a:srgbClr val="4CC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892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Школа мастеров и обязательная сертификация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5504688"/>
            <a:ext cx="109728" cy="109728"/>
          </a:xfrm>
          <a:prstGeom prst="ellipse">
            <a:avLst/>
          </a:prstGeom>
          <a:solidFill>
            <a:srgbClr val="4CC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5394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Рейтинги, гарантия, поддержка и арбитраж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04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ПРОДУКТ В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Что работает прямо сейчас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6771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Каталог услуг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15 категорий, 400+ работ, 3 языка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103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103120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226771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Заказ услуги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560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корзина, гео-выбор, эскроу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03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26771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Срочный заказ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60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фото + голос → готовый заказ за 30 сек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103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2103120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226771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Выездная оценка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56032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мастер выезжает, смета, модерация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27248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127248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2644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Ремонт «под ключ»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58444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этапы, дизайн-проект, фотоотчёты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3127248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37560" y="3127248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2152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32644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Партнёрские магазины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358444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стройматериалы со скидкой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127248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127248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2644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Школа мастеров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58444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курсы и обязательная сертификация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3127248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8280" y="3127248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872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5480" y="32644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Чат с авто-модерацией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3584448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40+ правил защиты комиссии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151376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151376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431596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428853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Гарантия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4608576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срок гарантии и возврат к мастеру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7560" y="4151376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37560" y="4151376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02152" y="431596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60" y="428853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Реферальная программа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60" y="4608576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5% мастеру, 3% клиенту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151376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151376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82512" y="431596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428853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Промокоды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4608576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скидки, лимиты, минимальная сумма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98280" y="4151376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98280" y="4151376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62872" y="431596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55480" y="428853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Форум мастеров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4608576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темы, ответы, модерация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175504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200" y="5175504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534009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312664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Telegram Mini App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32704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полный функционал внутри Telegram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337560" y="5175504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337560" y="5175504"/>
            <a:ext cx="40000" cy="9144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02152" y="534009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94760" y="5312664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Админ-панель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94760" y="5632704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управление, аудит, чёрный список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05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4 МОДУЛЯ УЖЕ В ПРОДЕ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AI-системы — наш технологический ров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2743200" cy="64008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AI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A24C"/>
                </a:solidFill>
                <a:latin typeface="Calibri"/>
              </a:rPr>
              <a:t>GPT-4O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194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9ECF3"/>
                </a:solidFill>
                <a:latin typeface="Calibri"/>
              </a:rPr>
              <a:t>Распознаёт работы и срочность по фото — заказ за 30 сек вместо 5 минут.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4CC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в 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10312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2103120"/>
            <a:ext cx="2743200" cy="64008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Customer Risk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A24C"/>
                </a:solidFill>
                <a:latin typeface="Calibri"/>
              </a:rPr>
              <a:t>СКОРИНГ 0–100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383280"/>
            <a:ext cx="2194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9ECF3"/>
                </a:solidFill>
                <a:latin typeface="Calibri"/>
              </a:rPr>
              <a:t>Мастера видят «трудных» клиентов заранее — на основании истории отмен и споров.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548640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4CC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54864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в production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0312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2103120"/>
            <a:ext cx="2743200" cy="64008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Master Routing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A24C"/>
                </a:solidFill>
                <a:latin typeface="Calibri"/>
              </a:rPr>
              <a:t>КОМПОЗИТНЫЙ СКОР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83280"/>
            <a:ext cx="2194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9ECF3"/>
                </a:solidFill>
                <a:latin typeface="Calibri"/>
              </a:rPr>
              <a:t>Расстояние + рейтинг + опыт + цена → волновая рассылка топ-3 → топ-10 → всем.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548640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4CC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4864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в production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103120"/>
            <a:ext cx="2743200" cy="40233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98280" y="2103120"/>
            <a:ext cx="2743200" cy="64008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Fraud Detection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A24C"/>
                </a:solidFill>
                <a:latin typeface="Calibri"/>
              </a:rPr>
              <a:t>5 ДЕТЕКТОРОВ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3383280"/>
            <a:ext cx="2194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9ECF3"/>
                </a:solidFill>
                <a:latin typeface="Calibri"/>
              </a:rPr>
              <a:t>Самосозвон, отмены после контакта, утечки в чате — защита комиссии.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72600" y="548640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4CC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54864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в 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06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TAM  ·  SAM  ·  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Размер рынка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2286000"/>
            <a:ext cx="4023360" cy="4023360"/>
          </a:xfrm>
          <a:prstGeom prst="ellipse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0320" y="2926080"/>
            <a:ext cx="2743200" cy="2743200"/>
          </a:xfrm>
          <a:prstGeom prst="ellipse">
            <a:avLst/>
          </a:prstGeom>
          <a:solidFill>
            <a:srgbClr val="1A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46120" y="3611880"/>
            <a:ext cx="1371600" cy="1371600"/>
          </a:xfrm>
          <a:prstGeom prst="ellipse">
            <a:avLst/>
          </a:prstGeom>
          <a:solidFill>
            <a:srgbClr val="C9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423161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9ECF3"/>
                </a:solidFill>
                <a:latin typeface="Calibri"/>
              </a:rPr>
              <a:t>TAM  ·  13.5 трлн сум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632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SAM  ·  3.75 трлн сум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069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43484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37.5 млрд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TAM — весь рынок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9 млн домохозяйств × 1.5 млн сум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расходов в год на ремонт и быт.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SAM — крупные города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404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Ташкент, Самарканд, Бухара,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Андижан, Наманган, Фергана.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46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SOM — наша цель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2120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1% SAM к концу 3-го года →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37.5 млрд сум GMV в год.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07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ПОЧЕМУ ВЫИГРЫВАЕМ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Конкурентное преимущество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291840" cy="50292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Критерий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2103120"/>
            <a:ext cx="1463040" cy="50292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1031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OLX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103120"/>
            <a:ext cx="2011680" cy="50292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031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Telegram-чаты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103120"/>
            <a:ext cx="1828800" cy="50292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1031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Подрядчики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103120"/>
            <a:ext cx="2679192" cy="50292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03120"/>
            <a:ext cx="26791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MasterUz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06040"/>
            <a:ext cx="329184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06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Эскроу-расчёты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2606040"/>
            <a:ext cx="146304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6060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606040"/>
            <a:ext cx="201168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6060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2606040"/>
            <a:ext cx="182880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26060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606040"/>
            <a:ext cx="2679192" cy="411480"/>
          </a:xfrm>
          <a:prstGeom prst="rect">
            <a:avLst/>
          </a:prstGeom>
          <a:solidFill>
            <a:srgbClr val="E2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260604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017520"/>
            <a:ext cx="329184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175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Верификация мастеров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3017520"/>
            <a:ext cx="146304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30175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3017520"/>
            <a:ext cx="201168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30175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017520"/>
            <a:ext cx="182880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3017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3017520"/>
            <a:ext cx="2679192" cy="411480"/>
          </a:xfrm>
          <a:prstGeom prst="rect">
            <a:avLst/>
          </a:prstGeom>
          <a:solidFill>
            <a:srgbClr val="E2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301752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429000"/>
            <a:ext cx="329184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290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AI-анализ фото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40" y="3429000"/>
            <a:ext cx="146304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0" y="34290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3429000"/>
            <a:ext cx="201168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34290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3429000"/>
            <a:ext cx="182880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3429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3429000"/>
            <a:ext cx="2679192" cy="411480"/>
          </a:xfrm>
          <a:prstGeom prst="rect">
            <a:avLst/>
          </a:prstGeom>
          <a:solidFill>
            <a:srgbClr val="E2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342900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840480"/>
            <a:ext cx="329184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38404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Telegram Mini App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3840480"/>
            <a:ext cx="146304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384048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0" y="3840480"/>
            <a:ext cx="201168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0" y="38404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3760" y="3840480"/>
            <a:ext cx="182880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23760" y="3840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3840480"/>
            <a:ext cx="2679192" cy="411480"/>
          </a:xfrm>
          <a:prstGeom prst="rect">
            <a:avLst/>
          </a:prstGeom>
          <a:solidFill>
            <a:srgbClr val="E2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384048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251960"/>
            <a:ext cx="329184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2519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3 языка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9040" y="4251960"/>
            <a:ext cx="146304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49040" y="425196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4251960"/>
            <a:ext cx="201168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12080" y="42519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4251960"/>
            <a:ext cx="182880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23760" y="42519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2560" y="4251960"/>
            <a:ext cx="2679192" cy="411480"/>
          </a:xfrm>
          <a:prstGeom prst="rect">
            <a:avLst/>
          </a:prstGeom>
          <a:solidFill>
            <a:srgbClr val="E2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52560" y="425196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663440"/>
            <a:ext cx="329184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46634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Гарантия и арбитраж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40" y="4663440"/>
            <a:ext cx="146304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40" y="46634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12080" y="4663440"/>
            <a:ext cx="201168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0" y="46634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23760" y="4663440"/>
            <a:ext cx="1828800" cy="4114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23760" y="4663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4663440"/>
            <a:ext cx="2679192" cy="411480"/>
          </a:xfrm>
          <a:prstGeom prst="rect">
            <a:avLst/>
          </a:prstGeom>
          <a:solidFill>
            <a:srgbClr val="E2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2560" y="466344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074920"/>
            <a:ext cx="329184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50749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Доступная цена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9040" y="5074920"/>
            <a:ext cx="146304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49040" y="50749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12080" y="5074920"/>
            <a:ext cx="201168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12080" y="50749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23760" y="5074920"/>
            <a:ext cx="1828800" cy="41148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223760" y="5074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A9B4C9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52560" y="5074920"/>
            <a:ext cx="2679192" cy="411480"/>
          </a:xfrm>
          <a:prstGeom prst="rect">
            <a:avLst/>
          </a:prstGeom>
          <a:solidFill>
            <a:srgbClr val="E2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052560" y="5074920"/>
            <a:ext cx="26791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08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БИЗНЕС-МОДЕЛЬ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Источники дохода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210312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2103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9A24C"/>
                </a:solidFill>
                <a:latin typeface="Calibri"/>
              </a:rPr>
              <a:t>78%  ·  Агентская комиссия 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1460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Только с успешно завершённых сделок.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Никаких сборов с мастеров на входе.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9A24C"/>
                </a:solidFill>
                <a:latin typeface="Calibri"/>
              </a:rPr>
              <a:t>10%  ·  Выездная оценка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150 000 сум — делится между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мастером и платформой.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63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9A24C"/>
                </a:solidFill>
                <a:latin typeface="Calibri"/>
              </a:rPr>
              <a:t>7%  ·  Партнёрские магазины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7492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5–10% оборота стройматериалов</a:t>
            </a:r>
          </a:p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от партнёрских магазинов.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760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9A24C"/>
                </a:solidFill>
                <a:latin typeface="Calibri"/>
              </a:rPr>
              <a:t>5%  ·  Промо-приоритет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09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МАРЖА 87% С ПЕРВОЙ СДЕЛКИ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Юнит-экономика одного заказа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657600" cy="64008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C9A24C"/>
                </a:solidFill>
                <a:latin typeface="Calibri"/>
              </a:rPr>
              <a:t>450 000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9ECF3"/>
                </a:solidFill>
                <a:latin typeface="Calibri"/>
              </a:rPr>
              <a:t>средний чек, сум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657600" cy="64008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688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C9A24C"/>
                </a:solidFill>
                <a:latin typeface="Calibri"/>
              </a:rPr>
              <a:t>67 500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9ECF3"/>
                </a:solidFill>
                <a:latin typeface="Calibri"/>
              </a:rPr>
              <a:t>комиссия с заказа, сум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031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3657600" cy="64008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4688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C9A24C"/>
                </a:solidFill>
                <a:latin typeface="Calibri"/>
              </a:rPr>
              <a:t>87%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9ECF3"/>
                </a:solidFill>
                <a:latin typeface="Calibri"/>
              </a:rPr>
              <a:t>маржинальность заказа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9A24C"/>
                </a:solidFill>
                <a:latin typeface="Calibri"/>
              </a:rPr>
              <a:t>LTV / CAC — экономика устойчива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LTV клиента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270 000 сум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CC28A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LTV мастера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1 010 000 сум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94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CC28A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CAC клиента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760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40 000 сум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60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CC28A"/>
                </a:solidFill>
                <a:latin typeface="Calibri"/>
              </a:rPr>
              <a:t>LTV/CAC = 6.7×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CAC мастера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126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80 000 сум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126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CC28A"/>
                </a:solidFill>
                <a:latin typeface="Calibri"/>
              </a:rPr>
              <a:t>LTV/CAC = 12.6×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10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GMV  ·  ВЫРУЧКА  ·  EBITDA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Финансовый прогноз на 3 года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2103120"/>
          <a:ext cx="80467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778240" y="219456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0" y="2194560"/>
            <a:ext cx="40000" cy="128016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377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4C"/>
                </a:solidFill>
                <a:latin typeface="Calibri"/>
              </a:rPr>
              <a:t>63%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9718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EBITDA margin к концу 3-го года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61188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3611880"/>
            <a:ext cx="40000" cy="128016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7947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4C"/>
                </a:solidFill>
                <a:latin typeface="Calibri"/>
              </a:rPr>
              <a:t>× 13.6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43891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Выручка вырастет в 13.6× за 3 года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502920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5029200"/>
            <a:ext cx="40000" cy="128016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52120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4C"/>
                </a:solidFill>
                <a:latin typeface="Calibri"/>
              </a:rPr>
              <a:t>&lt; 0.2×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8064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Долг / EBITDA к концу Y2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11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ПАРАМЕТРЫ КРЕДИТА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Запрос на финансирование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5669280" cy="420624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669280" cy="13716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9A24C"/>
                </a:solidFill>
                <a:latin typeface="Calibri"/>
              </a:rPr>
              <a:t>СУММА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1.5 млрд сум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9B4C9"/>
                </a:solidFill>
                <a:latin typeface="Calibri"/>
              </a:rPr>
              <a:t>≈ 120 000 USD по текущему курсу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9A24C"/>
                </a:solidFill>
                <a:latin typeface="Calibri"/>
              </a:rPr>
              <a:t>24 мес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E9ECF3"/>
                </a:solidFill>
                <a:latin typeface="Calibri"/>
              </a:rPr>
              <a:t>срок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45720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75488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9A24C"/>
                </a:solidFill>
                <a:latin typeface="Calibri"/>
              </a:rPr>
              <a:t>6 мес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3492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E9ECF3"/>
                </a:solidFill>
                <a:latin typeface="Calibri"/>
              </a:rPr>
              <a:t>льготный период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5720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75488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9A24C"/>
                </a:solidFill>
                <a:latin typeface="Calibri"/>
              </a:rPr>
              <a:t>без залога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3492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E9ECF3"/>
                </a:solidFill>
                <a:latin typeface="Calibri"/>
              </a:rPr>
              <a:t>обеспечение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03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 уровня защиты возврата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743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C9A24C"/>
                </a:solidFill>
                <a:latin typeface="Calibri"/>
              </a:rPr>
              <a:t>Операционный денежный поток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1546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EBITDA Y1 (0.45 млрд) уже покрывает</a:t>
            </a:r>
          </a:p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годовое тело долга. Y2 — × 8.7.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9776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977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C9A24C"/>
                </a:solidFill>
                <a:latin typeface="Calibri"/>
              </a:rPr>
              <a:t>Страховой резервный фонд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38912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100 млн сум зарезервированы</a:t>
            </a:r>
          </a:p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в составе кредитных средств.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5212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C9A24C"/>
                </a:solidFill>
                <a:latin typeface="Calibri"/>
              </a:rPr>
              <a:t>Личное поручительство учредителей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6235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Готовы предоставить как дополнительную</a:t>
            </a:r>
          </a:p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меру ответственности.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12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USE OF FUNDS  ·  1.5 МЛРД СУМ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Куда пойдут деньги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Маркетинг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Performance, Telegram Ads, региональная экспансия, B2B-партнёрства.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40280"/>
            <a:ext cx="7772400" cy="41148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2240280"/>
            <a:ext cx="7772400" cy="41148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240280"/>
            <a:ext cx="7406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50%  ·  750 млн сум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00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Команда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5584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Операционная команда, кол-центр, 3 региональных представителя, +1 backend + 1 ML.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127248"/>
            <a:ext cx="7772400" cy="41148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80" y="3127248"/>
            <a:ext cx="4663440" cy="41148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3127248"/>
            <a:ext cx="7406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30%  ·  450 млн сум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770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AI и инфра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4281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Масштабирование БД, Redis, CDN, S3-бэкапы, развитие 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4014216"/>
            <a:ext cx="7772400" cy="41148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0" y="4014216"/>
            <a:ext cx="1554480" cy="41148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4014216"/>
            <a:ext cx="7406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10%  ·  150 млн сум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6402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Оборотный капитал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978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Страховой фонд по спорам и сезонным колебаниям.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4901184"/>
            <a:ext cx="7772400" cy="41148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26080" y="4901184"/>
            <a:ext cx="1088136" cy="41148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4901184"/>
            <a:ext cx="7406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7%  ·  100 млн сум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509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Резерв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9B4C9"/>
                </a:solidFill>
                <a:latin typeface="Calibri"/>
              </a:rPr>
              <a:t>Непредвиденные расходы.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5788152"/>
            <a:ext cx="7772400" cy="41148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26080" y="5788152"/>
            <a:ext cx="466344" cy="41148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5788152"/>
            <a:ext cx="7406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3%  ·  50 млн сум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13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БЕРЕЖНАЯ НАГРУЗКА НА СТАРТЕ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График погашения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2103120"/>
          <a:ext cx="8046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778240" y="219456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0" y="2194560"/>
            <a:ext cx="40000" cy="128016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3774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9A24C"/>
                </a:solidFill>
                <a:latin typeface="Calibri"/>
              </a:rPr>
              <a:t>Мес 1–6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83464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Льготный период:</a:t>
            </a:r>
          </a:p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только проценты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61188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3611880"/>
            <a:ext cx="40000" cy="1280160"/>
          </a:xfrm>
          <a:prstGeom prst="rect">
            <a:avLst/>
          </a:prstGeom>
          <a:solidFill>
            <a:srgbClr val="4CC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7947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CC28A"/>
                </a:solidFill>
                <a:latin typeface="Calibri"/>
              </a:rPr>
              <a:t>× 8.7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425196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Превышение EBITDA Y2</a:t>
            </a:r>
          </a:p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над телом долга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502920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5029200"/>
            <a:ext cx="40000" cy="128016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52120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9A24C"/>
                </a:solidFill>
                <a:latin typeface="Calibri"/>
              </a:rPr>
              <a:t>1.5 млрд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6692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Полное погашение</a:t>
            </a:r>
          </a:p>
          <a:p>
            <a:pPr algn="l"/>
            <a:r>
              <a:rPr sz="1050" b="0">
                <a:solidFill>
                  <a:srgbClr val="E9ECF3"/>
                </a:solidFill>
                <a:latin typeface="Calibri"/>
              </a:rPr>
              <a:t>за 24 месяца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14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БАЗОВАЯ СТАВКА  ·  22% ГОДОВЫХ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Чувствительность к процентной ставке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657600" cy="64008"/>
          </a:xfrm>
          <a:prstGeom prst="rect">
            <a:avLst/>
          </a:prstGeom>
          <a:solidFill>
            <a:srgbClr val="E2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2C47A"/>
                </a:solidFill>
                <a:latin typeface="Calibri"/>
              </a:rPr>
              <a:t>ЛЬГОТНЫЙ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E9ECF3"/>
                </a:solidFill>
                <a:latin typeface="Calibri"/>
              </a:rPr>
              <a:t>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9B4C9"/>
                </a:solidFill>
                <a:latin typeface="Calibri"/>
              </a:rPr>
              <a:t>годовых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Проценты за 24 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Calibri"/>
              </a:rPr>
              <a:t>≈ 250 млн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Полная стоимость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Calibri"/>
              </a:rPr>
              <a:t>≈ 1.75 млрд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5721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Покрытие EBITDA Y2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5721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4CC28A"/>
                </a:solidFill>
                <a:latin typeface="Calibri"/>
              </a:rPr>
              <a:t>× 26.2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E9ECF3"/>
                </a:solidFill>
                <a:latin typeface="Calibri"/>
              </a:rPr>
              <a:t>Господдержка МСБ</a:t>
            </a:r>
          </a:p>
          <a:p>
            <a:pPr algn="ctr"/>
            <a:r>
              <a:rPr sz="950" b="0">
                <a:solidFill>
                  <a:srgbClr val="E9ECF3"/>
                </a:solidFill>
                <a:latin typeface="Calibri"/>
              </a:rPr>
              <a:t>и ИТ-сектора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1031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103120"/>
            <a:ext cx="3657600" cy="64008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9A24C"/>
                </a:solidFill>
                <a:latin typeface="Calibri"/>
              </a:rPr>
              <a:t>БАЗОВЫЙ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743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22%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931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9B4C9"/>
                </a:solidFill>
                <a:latin typeface="Calibri"/>
              </a:rPr>
              <a:t>годовых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Проценты за 24 мес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Calibri"/>
              </a:rPr>
              <a:t>≈ 390 млн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Полная стоимость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Calibri"/>
              </a:rPr>
              <a:t>≈ 1.89 млрд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15721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Покрытие EBITDA Y2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15721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4CC28A"/>
                </a:solidFill>
                <a:latin typeface="Calibri"/>
              </a:rPr>
              <a:t>× 16.8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669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E9ECF3"/>
                </a:solidFill>
                <a:latin typeface="Calibri"/>
              </a:rPr>
              <a:t>Коммерческий банк,</a:t>
            </a:r>
          </a:p>
          <a:p>
            <a:pPr algn="ctr"/>
            <a:r>
              <a:rPr sz="950" b="0">
                <a:solidFill>
                  <a:srgbClr val="E9ECF3"/>
                </a:solidFill>
                <a:latin typeface="Calibri"/>
              </a:rPr>
              <a:t>без залога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210312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2103120"/>
            <a:ext cx="3657600" cy="64008"/>
          </a:xfrm>
          <a:prstGeom prst="rect">
            <a:avLst/>
          </a:prstGeom>
          <a:solidFill>
            <a:srgbClr val="E2C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2C47A"/>
                </a:solidFill>
                <a:latin typeface="Calibri"/>
              </a:rPr>
              <a:t>КОНСЕРВАТИВНЫЙ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743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E9ECF3"/>
                </a:solidFill>
                <a:latin typeface="Calibri"/>
              </a:rPr>
              <a:t>26%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931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9B4C9"/>
                </a:solidFill>
                <a:latin typeface="Calibri"/>
              </a:rPr>
              <a:t>годовых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Проценты за 24 мес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Calibri"/>
              </a:rPr>
              <a:t>≈ 465 млн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Полная стоимость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773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Calibri"/>
              </a:rPr>
              <a:t>≈ 1.97 млрд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15721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9B4C9"/>
                </a:solidFill>
                <a:latin typeface="Calibri"/>
              </a:rPr>
              <a:t>Покрытие EBITDA Y2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15721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50" b="1">
                <a:solidFill>
                  <a:srgbClr val="4CC28A"/>
                </a:solidFill>
                <a:latin typeface="Calibri"/>
              </a:rPr>
              <a:t>× 14.1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669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E9ECF3"/>
                </a:solidFill>
                <a:latin typeface="Calibri"/>
              </a:rPr>
              <a:t>Верхняя граница</a:t>
            </a:r>
          </a:p>
          <a:p>
            <a:pPr algn="ctr"/>
            <a:r>
              <a:rPr sz="950" b="0">
                <a:solidFill>
                  <a:srgbClr val="E9ECF3"/>
                </a:solidFill>
                <a:latin typeface="Calibri"/>
              </a:rPr>
              <a:t>рынка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400800"/>
            <a:ext cx="11247120" cy="36576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C9A24C"/>
                </a:solidFill>
                <a:latin typeface="Calibri"/>
              </a:rPr>
              <a:t>Полная стоимость кредита &lt; 14% совокупной выручки за 24 мес.  ·  Модель устойчива во всём диапазоне рыночных ставок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15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PRODUCTION-READY 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Технологии и безопасность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СТЕК ПЛАТФОРМЫ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Бэкенд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688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Node.js 20 LTS + Express + TypeScript, 24 модуля, 120+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База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260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PostgreSQL 16, 37 моделей, шифрование at-rest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Кеш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832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Redis (managed), сессии и rate-limit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Фронтенд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40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React 18 + Vite + Tailwind, 41 страница, 35 компонентов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Языки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97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Узбекский, русский, английский — 1 300+ ключей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Платежи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548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Click, Payme — локальные узбекские системы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2120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OpenAI GPT-4o + собственные ML-сервисы (4 модуля)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Инфра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692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Docker Compose, Nginx + SSL, CI/CD GitHub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031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БЕЗОПАСНОСТЬ И СООТВЕТСТВИЕ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468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TLS/SSL на всём трафике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926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6 уровней rate-limiting (Redis-backed)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383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40+ regex-правил автомодерации чата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404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840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PCI-DSS совместимая интеграция платежей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297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Audit Log — каждое действие администратора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754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754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AI Fraud Detection Agent (5 детекторов)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12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Соответствие ЗРУ-547 «О персональных данных»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669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28A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669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Опубликованы Политика конфиденциальности и Договор-оферта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A24C"/>
                </a:solidFill>
                <a:latin typeface="Calibri"/>
              </a:rPr>
              <a:t>16 / 17   ·   MASTERUZ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9B4C9"/>
                </a:solidFill>
                <a:latin typeface="Calibri"/>
              </a:rPr>
              <a:t>RISK &amp;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Управление рисками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31520" cy="2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РИСК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МИТИГАЦИЯ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Обход комиссии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AI-модерация чата, Fraud Agent (5 детекторов), штрафы из эскроу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Качество работ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Школа мастеров, обязательная сертификация, рейтинги, страховой фонд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Регуляторика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57600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Юр. сопровождение, ЗРУ-547, опубликованы оферта и политика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Технические инциденты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06240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Шифрованные бэкапы ежедневно, SLA, мониторинг и алертинг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Зависимость от Telegram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54880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Веб-версия и мобильные приложения в roadmap — диверсификация каналов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Конкуренция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303520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Технологический ров: 4 AI-системы, сетевой эффект, скорость локализации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521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Сезонность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852160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9ECF3"/>
                </a:solidFill>
                <a:latin typeface="Calibri"/>
              </a:rPr>
              <a:t>Диверсификация: сантехника, клининг, бытовая техника — внесезонные категории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9B4C9"/>
                </a:solidFill>
                <a:latin typeface="Calibri"/>
              </a:rPr>
              <a:t>ООО «Vladlab»  ·  ИНН 313020180  ·  masteruz.uz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9B4C9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50000" cy="6858000"/>
          </a:xfrm>
          <a:prstGeom prst="rect">
            <a:avLst/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ЗАКЛЮЧЕНИЕ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Это не идея —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это работающий продукт.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ECF3"/>
                </a:solidFill>
                <a:latin typeface="Calibri"/>
              </a:rPr>
              <a:t>Все 14 модулей и 4 AI-системы развёрнуты в production</a:t>
            </a:r>
          </a:p>
          <a:p>
            <a:pPr algn="l"/>
            <a:r>
              <a:rPr sz="1400" b="0">
                <a:solidFill>
                  <a:srgbClr val="E9ECF3"/>
                </a:solidFill>
                <a:latin typeface="Calibri"/>
              </a:rPr>
              <a:t>и обслуживают реальных пользователей.</a:t>
            </a:r>
          </a:p>
          <a:p>
            <a:pPr algn="l"/>
            <a:r>
              <a:rPr sz="1400" b="0">
                <a:solidFill>
                  <a:srgbClr val="E9ECF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E9ECF3"/>
                </a:solidFill>
                <a:latin typeface="Calibri"/>
              </a:rPr>
              <a:t>ООО «Vladlab» просит банк рассматривать заявку как</a:t>
            </a:r>
          </a:p>
          <a:p>
            <a:pPr algn="l"/>
            <a:r>
              <a:rPr sz="1400" b="0">
                <a:solidFill>
                  <a:srgbClr val="E9ECF3"/>
                </a:solidFill>
                <a:latin typeface="Calibri"/>
              </a:rPr>
              <a:t>финансирование масштабирования технологического актива</a:t>
            </a:r>
          </a:p>
          <a:p>
            <a:pPr algn="l"/>
            <a:r>
              <a:rPr sz="1400" b="0">
                <a:solidFill>
                  <a:srgbClr val="E9ECF3"/>
                </a:solidFill>
                <a:latin typeface="Calibri"/>
              </a:rPr>
              <a:t>с прозрачной выручкой и понятной моделью комиссии 15%.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6766560" cy="822960"/>
          </a:xfrm>
          <a:prstGeom prst="roundRect">
            <a:avLst>
              <a:gd name="adj" fmla="val 8000"/>
            </a:avLst>
          </a:prstGeom>
          <a:solidFill>
            <a:srgbClr val="C9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Calibri"/>
              </a:rPr>
              <a:t>1.5 млрд сум  ·  24 мес  ·  без залога  ·  6 мес льготный период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371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9A24C"/>
                </a:solidFill>
                <a:latin typeface="Calibri"/>
              </a:rPr>
              <a:t>КОНТАКТЫ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ООО «Vladlab»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ИНН 313020180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ОКЭД 63.12.0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017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ECF3"/>
                </a:solidFill>
                <a:latin typeface="Calibri"/>
              </a:rPr>
              <a:t>г. Ташкент, Узбекистан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49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Сайт и Telegram-бот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9B4C9"/>
                </a:solidFill>
                <a:latin typeface="Calibri"/>
              </a:rPr>
              <a:t>будут запущены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480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9B4C9"/>
                </a:solidFill>
                <a:latin typeface="Calibri"/>
              </a:rPr>
              <a:t>в рамках масштабирования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394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2C47A"/>
                </a:solidFill>
                <a:latin typeface="Calibri"/>
              </a:rPr>
              <a:t>Документация и демо-доступ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760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9B4C9"/>
                </a:solidFill>
                <a:latin typeface="Calibri"/>
              </a:rPr>
              <a:t>предоставляются по запросу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6126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9B4C9"/>
                </a:solidFill>
                <a:latin typeface="Calibri"/>
              </a:rPr>
              <a:t>кредитного комитета.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